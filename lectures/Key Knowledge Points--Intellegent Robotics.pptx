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4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pos="325">
          <p15:clr>
            <a:srgbClr val="A4A3A4"/>
          </p15:clr>
        </p15:guide>
        <p15:guide id="6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696F"/>
    <a:srgbClr val="003F43"/>
    <a:srgbClr val="2BB7B3"/>
    <a:srgbClr val="208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64" y="52"/>
      </p:cViewPr>
      <p:guideLst>
        <p:guide orient="horz" pos="2183"/>
        <p:guide pos="3863"/>
        <p:guide orient="horz" pos="3974"/>
        <p:guide pos="325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384797" y="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chemeClr val="accent1"/>
                </a:solidFill>
                <a:cs typeface="+mn-ea"/>
                <a:sym typeface="+mn-lt"/>
              </a:rPr>
              <a:t>应用类教研组课程知识点</a:t>
            </a:r>
            <a:endParaRPr lang="en-US" altLang="zh-CN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063780"/>
              </p:ext>
            </p:extLst>
          </p:nvPr>
        </p:nvGraphicFramePr>
        <p:xfrm>
          <a:off x="212433" y="543871"/>
          <a:ext cx="11757894" cy="6136449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959649">
                  <a:extLst>
                    <a:ext uri="{9D8B030D-6E8A-4147-A177-3AD203B41FA5}">
                      <a16:colId xmlns:a16="http://schemas.microsoft.com/office/drawing/2014/main" val="1670103835"/>
                    </a:ext>
                  </a:extLst>
                </a:gridCol>
                <a:gridCol w="1959649">
                  <a:extLst>
                    <a:ext uri="{9D8B030D-6E8A-4147-A177-3AD203B41FA5}">
                      <a16:colId xmlns:a16="http://schemas.microsoft.com/office/drawing/2014/main" val="1774111981"/>
                    </a:ext>
                  </a:extLst>
                </a:gridCol>
                <a:gridCol w="1959649">
                  <a:extLst>
                    <a:ext uri="{9D8B030D-6E8A-4147-A177-3AD203B41FA5}">
                      <a16:colId xmlns:a16="http://schemas.microsoft.com/office/drawing/2014/main" val="2862838012"/>
                    </a:ext>
                  </a:extLst>
                </a:gridCol>
                <a:gridCol w="1959649">
                  <a:extLst>
                    <a:ext uri="{9D8B030D-6E8A-4147-A177-3AD203B41FA5}">
                      <a16:colId xmlns:a16="http://schemas.microsoft.com/office/drawing/2014/main" val="477713745"/>
                    </a:ext>
                  </a:extLst>
                </a:gridCol>
                <a:gridCol w="1959649">
                  <a:extLst>
                    <a:ext uri="{9D8B030D-6E8A-4147-A177-3AD203B41FA5}">
                      <a16:colId xmlns:a16="http://schemas.microsoft.com/office/drawing/2014/main" val="568969312"/>
                    </a:ext>
                  </a:extLst>
                </a:gridCol>
                <a:gridCol w="1959649">
                  <a:extLst>
                    <a:ext uri="{9D8B030D-6E8A-4147-A177-3AD203B41FA5}">
                      <a16:colId xmlns:a16="http://schemas.microsoft.com/office/drawing/2014/main" val="716283929"/>
                    </a:ext>
                  </a:extLst>
                </a:gridCol>
              </a:tblGrid>
              <a:tr h="3286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《</a:t>
                      </a:r>
                      <a:r>
                        <a:rPr lang="zh-CN" altLang="en-US" dirty="0" smtClean="0"/>
                        <a:t>智能机器人</a:t>
                      </a:r>
                      <a:r>
                        <a:rPr lang="en-US" altLang="zh-CN" dirty="0" smtClean="0"/>
                        <a:t>》</a:t>
                      </a:r>
                      <a:r>
                        <a:rPr lang="zh-CN" altLang="en-US" dirty="0" smtClean="0"/>
                        <a:t>课程知识点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201115"/>
                  </a:ext>
                </a:extLst>
              </a:tr>
              <a:tr h="13147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probability</a:t>
                      </a:r>
                      <a:r>
                        <a:rPr lang="en-US" altLang="zh-CN" baseline="0" dirty="0" smtClean="0"/>
                        <a:t> fundamentals, Bayes </a:t>
                      </a:r>
                      <a:r>
                        <a:rPr lang="en-US" altLang="zh-CN" baseline="0" dirty="0" smtClean="0"/>
                        <a:t>rules,</a:t>
                      </a:r>
                    </a:p>
                    <a:p>
                      <a:r>
                        <a:rPr lang="en-US" altLang="zh-CN" baseline="0" dirty="0" smtClean="0"/>
                        <a:t>Markov 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probabilistic</a:t>
                      </a:r>
                      <a:r>
                        <a:rPr lang="en-US" altLang="zh-CN" baseline="0" dirty="0" smtClean="0"/>
                        <a:t> sensing and </a:t>
                      </a:r>
                      <a:r>
                        <a:rPr lang="en-US" altLang="zh-CN" baseline="0" smtClean="0"/>
                        <a:t>action </a:t>
                      </a:r>
                      <a:r>
                        <a:rPr lang="en-US" altLang="zh-CN" baseline="0" smtClean="0"/>
                        <a:t>models, </a:t>
                      </a:r>
                      <a:r>
                        <a:rPr lang="en-US" altLang="zh-CN" baseline="0" dirty="0" smtClean="0"/>
                        <a:t>Bayes filters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robot motion</a:t>
                      </a:r>
                      <a:r>
                        <a:rPr lang="en-US" altLang="zh-CN" baseline="0" dirty="0" smtClean="0"/>
                        <a:t> planning, collision avoidance, potential field method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dynamic window approach to collision avoidance, A* path</a:t>
                      </a:r>
                      <a:r>
                        <a:rPr lang="en-US" altLang="zh-CN" baseline="0" dirty="0" smtClean="0"/>
                        <a:t> planning</a:t>
                      </a:r>
                      <a:r>
                        <a:rPr lang="en-US" altLang="zh-CN" dirty="0" smtClean="0"/>
                        <a:t>, 5D motion planning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Markov</a:t>
                      </a:r>
                      <a:r>
                        <a:rPr lang="en-US" altLang="zh-CN" baseline="0" dirty="0" smtClean="0"/>
                        <a:t> decision process for motion planning, policy iteration, value iteration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reinforcement learning for motion planning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DP approach, Monte Carlo approach, TD</a:t>
                      </a:r>
                      <a:r>
                        <a:rPr lang="en-US" altLang="zh-CN" baseline="0" dirty="0" smtClean="0"/>
                        <a:t> approach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98699"/>
                  </a:ext>
                </a:extLst>
              </a:tr>
              <a:tr h="13147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reinforcement learning for motion planning</a:t>
                      </a:r>
                      <a:r>
                        <a:rPr lang="zh-CN" altLang="en-US" dirty="0" smtClean="0"/>
                        <a:t>：</a:t>
                      </a:r>
                      <a:r>
                        <a:rPr lang="en-US" altLang="zh-CN" dirty="0" smtClean="0"/>
                        <a:t>Q-learning,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en-US" altLang="zh-CN" dirty="0" smtClean="0"/>
                        <a:t>SARSA, policy gradient approach</a:t>
                      </a:r>
                      <a:r>
                        <a:rPr lang="en-US" altLang="zh-CN" baseline="0" dirty="0" smtClean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robot perception, wheel encoder, IMU, </a:t>
                      </a:r>
                      <a:r>
                        <a:rPr lang="en-US" altLang="zh-CN" dirty="0" err="1" smtClean="0"/>
                        <a:t>odometry</a:t>
                      </a:r>
                      <a:r>
                        <a:rPr lang="en-US" altLang="zh-CN" dirty="0" smtClean="0"/>
                        <a:t>, GPS, UWB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robot localization, differential</a:t>
                      </a:r>
                      <a:r>
                        <a:rPr lang="en-US" altLang="zh-CN" baseline="0" dirty="0" smtClean="0"/>
                        <a:t> drive robot model, velocity based robot 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Bayesian (Markovian) localization, landmark based localization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 smtClean="0"/>
                        <a:t>Kalman</a:t>
                      </a:r>
                      <a:r>
                        <a:rPr lang="en-US" altLang="zh-CN" baseline="0" dirty="0" smtClean="0"/>
                        <a:t> filter based localization, extended </a:t>
                      </a:r>
                      <a:r>
                        <a:rPr lang="en-US" altLang="zh-CN" baseline="0" dirty="0" err="1" smtClean="0"/>
                        <a:t>Kalman</a:t>
                      </a:r>
                      <a:r>
                        <a:rPr lang="en-US" altLang="zh-CN" baseline="0" dirty="0" smtClean="0"/>
                        <a:t> filter based localization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particle</a:t>
                      </a:r>
                      <a:r>
                        <a:rPr lang="en-US" altLang="zh-CN" baseline="0" dirty="0" smtClean="0"/>
                        <a:t> filter, importance sampling, resampling, Monte Carlo localization, global localization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517790"/>
                  </a:ext>
                </a:extLst>
              </a:tr>
              <a:tr h="131479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Robot mapping</a:t>
                      </a:r>
                      <a:r>
                        <a:rPr lang="zh-CN" altLang="en-US" dirty="0" smtClean="0"/>
                        <a:t>， </a:t>
                      </a:r>
                      <a:r>
                        <a:rPr lang="en-US" altLang="zh-CN" dirty="0" smtClean="0"/>
                        <a:t>landmark based mapping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 smtClean="0"/>
                        <a:t>grid mapping, occupancy and reflection maps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SLAM, landmark based SLAM, grid map based SLAM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Kalman</a:t>
                      </a:r>
                      <a:r>
                        <a:rPr lang="en-US" altLang="zh-CN" dirty="0" smtClean="0"/>
                        <a:t> filter based SLAM,</a:t>
                      </a:r>
                    </a:p>
                    <a:p>
                      <a:r>
                        <a:rPr lang="en-US" altLang="zh-CN" dirty="0" smtClean="0"/>
                        <a:t>error</a:t>
                      </a:r>
                      <a:r>
                        <a:rPr lang="en-US" altLang="zh-CN" baseline="0" dirty="0" smtClean="0"/>
                        <a:t> propagation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particle</a:t>
                      </a:r>
                      <a:r>
                        <a:rPr lang="en-US" altLang="zh-CN" baseline="0" dirty="0" smtClean="0"/>
                        <a:t> filter based SLAM, </a:t>
                      </a:r>
                      <a:r>
                        <a:rPr lang="en-US" altLang="zh-CN" baseline="0" dirty="0" err="1" smtClean="0"/>
                        <a:t>fastSLAM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graph based</a:t>
                      </a:r>
                      <a:r>
                        <a:rPr lang="en-US" altLang="zh-CN" baseline="0" dirty="0" smtClean="0"/>
                        <a:t> SLAM. least square method, front end and back end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70362"/>
                  </a:ext>
                </a:extLst>
              </a:tr>
              <a:tr h="558609">
                <a:tc gridSpan="6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613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9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rta5a51v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211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华文楷体</vt:lpstr>
      <vt:lpstr>Arial</vt:lpstr>
      <vt:lpstr>Times New Roman</vt:lpstr>
      <vt:lpstr>基础母版样式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 Yao</dc:creator>
  <cp:lastModifiedBy>Bob Hao</cp:lastModifiedBy>
  <cp:revision>97</cp:revision>
  <dcterms:created xsi:type="dcterms:W3CDTF">2020-06-27T02:35:43Z</dcterms:created>
  <dcterms:modified xsi:type="dcterms:W3CDTF">2022-05-10T12:51:59Z</dcterms:modified>
</cp:coreProperties>
</file>